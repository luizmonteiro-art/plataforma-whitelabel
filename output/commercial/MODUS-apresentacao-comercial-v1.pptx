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3dbb679774c31" /><Relationship Type="http://schemas.openxmlformats.org/officeDocument/2006/relationships/extended-properties" Target="/docProps/app.xml" Id="R858d400ced124399" /><Relationship Type="http://schemas.openxmlformats.org/officeDocument/2006/relationships/officeDocument" Target="/ppt/presentation.xml" Id="R7ce15f46ece74c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2c6c519d434458"/>
  </p:sldMasterIdLst>
  <p:notesMasterIdLst>
    <p:notesMasterId xmlns:r="http://schemas.openxmlformats.org/officeDocument/2006/relationships" r:id="R6a9f275883b2407b"/>
  </p:notesMasterIdLst>
  <p:sldIdLst>
    <p:sldId xmlns:r="http://schemas.openxmlformats.org/officeDocument/2006/relationships" id="256" r:id="Rec1e9cfc53e340a2"/>
    <p:sldId xmlns:r="http://schemas.openxmlformats.org/officeDocument/2006/relationships" id="257" r:id="R1d87e26e72654070"/>
    <p:sldId xmlns:r="http://schemas.openxmlformats.org/officeDocument/2006/relationships" id="258" r:id="R1e9c5334fd2d42b7"/>
    <p:sldId xmlns:r="http://schemas.openxmlformats.org/officeDocument/2006/relationships" id="259" r:id="R48d07987242c494c"/>
    <p:sldId xmlns:r="http://schemas.openxmlformats.org/officeDocument/2006/relationships" id="260" r:id="R22c8e91dba6c427e"/>
    <p:sldId xmlns:r="http://schemas.openxmlformats.org/officeDocument/2006/relationships" id="261" r:id="R1c034dcc1f054cd2"/>
    <p:sldId xmlns:r="http://schemas.openxmlformats.org/officeDocument/2006/relationships" id="262" r:id="R5e1f30a723dc4d86"/>
    <p:sldId xmlns:r="http://schemas.openxmlformats.org/officeDocument/2006/relationships" id="263" r:id="R3e5e33b2c04c44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5cab210a444239" /><Relationship Type="http://schemas.openxmlformats.org/officeDocument/2006/relationships/slideMaster" Target="/ppt/slideMasters/slideMaster1.xml" Id="R3f2c6c519d434458" /><Relationship Type="http://schemas.openxmlformats.org/officeDocument/2006/relationships/notesMaster" Target="/ppt/notesMasters/notesMaster1.xml" Id="R6a9f275883b2407b" /><Relationship Type="http://schemas.openxmlformats.org/officeDocument/2006/relationships/presProps" Target="/ppt/presProps.xml" Id="R9dd2dca892d94589" /><Relationship Type="http://schemas.openxmlformats.org/officeDocument/2006/relationships/tableStyles" Target="/ppt/tableStyles.xml" Id="R3131f9c56f364321" /><Relationship Type="http://schemas.openxmlformats.org/officeDocument/2006/relationships/slide" Target="/ppt/slides/slide1.xml" Id="Rec1e9cfc53e340a2" /><Relationship Type="http://schemas.openxmlformats.org/officeDocument/2006/relationships/slide" Target="/ppt/slides/slide2.xml" Id="R1d87e26e72654070" /><Relationship Type="http://schemas.openxmlformats.org/officeDocument/2006/relationships/slide" Target="/ppt/slides/slide3.xml" Id="R1e9c5334fd2d42b7" /><Relationship Type="http://schemas.openxmlformats.org/officeDocument/2006/relationships/slide" Target="/ppt/slides/slide4.xml" Id="R48d07987242c494c" /><Relationship Type="http://schemas.openxmlformats.org/officeDocument/2006/relationships/slide" Target="/ppt/slides/slide5.xml" Id="R22c8e91dba6c427e" /><Relationship Type="http://schemas.openxmlformats.org/officeDocument/2006/relationships/slide" Target="/ppt/slides/slide6.xml" Id="R1c034dcc1f054cd2" /><Relationship Type="http://schemas.openxmlformats.org/officeDocument/2006/relationships/slide" Target="/ppt/slides/slide7.xml" Id="R5e1f30a723dc4d86" /><Relationship Type="http://schemas.openxmlformats.org/officeDocument/2006/relationships/slide" Target="/ppt/slides/slide8.xml" Id="R3e5e33b2c04c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73ea02aac45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a67de9d3904413" /><Relationship Type="http://schemas.openxmlformats.org/officeDocument/2006/relationships/notesMaster" Target="/ppt/notesMasters/notesMaster1.xml" Id="R6b986c3c62364e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ccac5bba74f15" /><Relationship Type="http://schemas.openxmlformats.org/officeDocument/2006/relationships/notesMaster" Target="/ppt/notesMasters/notesMaster1.xml" Id="Rf4e9316a7b224d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c5829aadeb4397" /><Relationship Type="http://schemas.openxmlformats.org/officeDocument/2006/relationships/notesMaster" Target="/ppt/notesMasters/notesMaster1.xml" Id="R8113bc9c268e40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222c9b5c4f40e9" /><Relationship Type="http://schemas.openxmlformats.org/officeDocument/2006/relationships/notesMaster" Target="/ppt/notesMasters/notesMaster1.xml" Id="R48d0148ec3d84e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0d849fbc374859" /><Relationship Type="http://schemas.openxmlformats.org/officeDocument/2006/relationships/notesMaster" Target="/ppt/notesMasters/notesMaster1.xml" Id="R447f03c6763d41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e694b38f754f08" /><Relationship Type="http://schemas.openxmlformats.org/officeDocument/2006/relationships/notesMaster" Target="/ppt/notesMasters/notesMaster1.xml" Id="R5c22810a1d664b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61420d663a41f2" /><Relationship Type="http://schemas.openxmlformats.org/officeDocument/2006/relationships/notesMaster" Target="/ppt/notesMasters/notesMaster1.xml" Id="Rfbc71eaca6924a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bb689963c14de7" /><Relationship Type="http://schemas.openxmlformats.org/officeDocument/2006/relationships/notesMaster" Target="/ppt/notesMasters/notesMaster1.xml" Id="R278fbf82c5c0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MODUS organiza a operação e a presença digital de pequenos negócios. Esta apresentação descreve o escopo atual do produto.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arquitetura atual usa uma base central com isolamento por empresa. A apresentação evita expor detalhes técnicos desnecessários ao cliente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Valores e limites refletem os planos configurados no produto em 6 de setembro de 2026. Confirmar a proposta comercial antes do envio definitivo ao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convidando o cliente para uma conversa de diagnóstico. Evitar prometer prazo ou resultado antes de entender a operação.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0a4e1330f4b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04e5851e864b5e" /><Relationship Type="http://schemas.openxmlformats.org/officeDocument/2006/relationships/slideLayout" Target="/ppt/slideLayouts/slideLayout1.xml" Id="R4cd13c3ed75e46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d13c3ed75e46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e191bcbd24559" /><Relationship Type="http://schemas.openxmlformats.org/officeDocument/2006/relationships/image" Target="/ppt/media/image.png" Id="Re19fab8b58e4475d" /><Relationship Type="http://schemas.openxmlformats.org/officeDocument/2006/relationships/notesSlide" Target="/ppt/notesSlides/notesSlide1.xml" Id="R37a7106ec4724a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6e554daff4186" /><Relationship Type="http://schemas.openxmlformats.org/officeDocument/2006/relationships/notesSlide" Target="/ppt/notesSlides/notesSlide2.xml" Id="R826e085194fc4a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805b65d7746e0" /><Relationship Type="http://schemas.openxmlformats.org/officeDocument/2006/relationships/notesSlide" Target="/ppt/notesSlides/notesSlide3.xml" Id="R66d17457cad840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5e54d8a094e14" /><Relationship Type="http://schemas.openxmlformats.org/officeDocument/2006/relationships/notesSlide" Target="/ppt/notesSlides/notesSlide4.xml" Id="R58885f6557e443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e83dceefb46a7" /><Relationship Type="http://schemas.openxmlformats.org/officeDocument/2006/relationships/notesSlide" Target="/ppt/notesSlides/notesSlide5.xml" Id="R4db1e64663a340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4ea721cb34dcf" /><Relationship Type="http://schemas.openxmlformats.org/officeDocument/2006/relationships/notesSlide" Target="/ppt/notesSlides/notesSlide6.xml" Id="Rf66cdbb2e74c4d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ba803de394909" /><Relationship Type="http://schemas.openxmlformats.org/officeDocument/2006/relationships/notesSlide" Target="/ppt/notesSlides/notesSlide7.xml" Id="R0cc0ebf9a6db45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57c2c6ed1434f" /><Relationship Type="http://schemas.openxmlformats.org/officeDocument/2006/relationships/image" Target="/ppt/media/image2.png" Id="Rd7de4da82e624125" /><Relationship Type="http://schemas.openxmlformats.org/officeDocument/2006/relationships/image" Target="/ppt/media/image.svg" Id="R4eea3e4993494b6b" /><Relationship Type="http://schemas.openxmlformats.org/officeDocument/2006/relationships/notesSlide" Target="/ppt/notesSlides/notesSlide8.xml" Id="R48dd85b5456847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C4229-2CFD-4B3B-A26D-18CA8BED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451E6-899C-40AA-AD0D-F999C5DA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0"/>
            <a:ext cx="417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CE1AC-EDE0-49C1-9205-51059A85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62000"/>
            <a:ext cx="25527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fab8b58e4475d"/>
          <a:stretch xmlns:a="http://schemas.openxmlformats.org/drawingml/2006/main"/>
        </p:blipFill>
        <p:spPr>
          <a:xfrm xmlns:a="http://schemas.openxmlformats.org/drawingml/2006/main">
            <a:off x="8896350" y="1066800"/>
            <a:ext cx="1943100" cy="1943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82A17-2488-4BD6-BC7B-DD63D412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714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61101-D02D-4B5E-9DBF-F13C9EA7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APRESENTAÇÃO COMERCIAL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16952-11AB-4139-86B7-B3E28252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31782-E061-491A-852F-5F55F29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572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Seu negócio em</a:t>
            </a:r>
          </a:p>
          <a:p xmlns:a="http://schemas.openxmlformats.org/drawingml/2006/main">
            <a:pPr algn="l">
              <a:defRPr sz="3750" b="1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modo de avançar.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EFC15-1D76-49A7-A670-310E7660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Vitrine digital e gestão prática para lojas de celulares e assistências técnicas.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9C85A-E947-4C81-963E-A7162D89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Catálogo  ·  Estoque  ·  Vendas  ·  Serviços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A5762-5770-4028-8A19-1BB608CC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76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usemodus.ai</a:t>
            </a:r>
          </a:p>
        </p:txBody>
      </p:sp>
    </p:spTree>
    <p:extLst>
      <p:ext uri="{BB962C8B-B14F-4D97-AF65-F5344CB8AC3E}">
        <p14:creationId xmlns:p14="http://schemas.microsoft.com/office/powerpoint/2010/main" val="395673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8BC59-AB46-43C3-8645-281D5C3E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DA485-0E15-4F87-87B4-48FB8918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O negócio cresce. O controle fica espalhado.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956FE-B977-491A-9426-2219045A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Quando informação, atendimento e venda vivem em lugares diferentes, o dono perde visibilidade e tempo.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31643-27EB-4EB0-8960-4E8B4F32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0D8F9-6C14-44FA-B194-35C4306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A9981-CEBC-48E0-93D5-23D4610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71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Estoque incerto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376A1-5D02-49E2-BED1-169FCA6C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908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Planilhas, cadernos e memória não mostram a posição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43A3F-B129-42CA-B79A-D2541C88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71B72-671D-4F31-B393-98A8B877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345BE-9AB6-4F69-B6E7-9790AA5C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Atendimento fragmentado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DF259-5EB9-40DF-89CF-B6DBC3D3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908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Pedidos, orçamentos e retornos se misturam no WhatsApp.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FE549-BC27-4D27-9E6D-6C8C6114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5D5774-EDC5-43A2-84D4-C7C3E24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9D303-7097-4C90-8D9B-BBD611D6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Vitrine desatualizada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62B85-CEE0-4986-B79F-F18B9497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O cliente pergunta o que existe antes mesmo de decidir.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19EAE-703A-43C6-9370-5783EF89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01E0C-99CC-4991-8D47-F3D47446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148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D41FC-7E66-4B41-AAC0-AC352F59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91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Decisão sem dados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CD5D3-99F2-4B9E-BCB2-A58976D8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101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Sem uma visão simples, fica difícil saber o que vender e repor.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925FB-631C-4714-914B-AE6DC239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5F068-DDA9-4CCD-8E47-B83090E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01069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92C78-7FFE-4911-A671-85068DF2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9E2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9E2AD"/>
                </a:solidFill>
                <a:latin typeface="Arial"/>
                <a:ea typeface="Arial"/>
                <a:cs typeface="Arial"/>
              </a:rPr>
              <a:t>A 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0D8CF-F9AD-4CFB-9D61-E5B57FFB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base. Duas experiências conectadas.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94E21-A900-4C16-9A2C-D175427F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A MODUS conecta a vitrine que o cliente acessa com o painel que o dono usa para operar.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EABE6-6286-4DBF-942F-27906692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905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315E4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6434C-7ADB-4DF3-8375-3471F57A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2573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5C6E4-6714-4C7C-8DA8-C6CBC94D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PARA O CLIENTE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14033-ECF4-49F8-BFB0-DCE6CAD1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Vitrine digital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9D298-78DC-4256-B177-D468E1C9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Produtos organizados</a:t>
            </a:r>
          </a:p>
          <a:p xmlns:a="http://schemas.openxmlformats.org/drawingml/2006/main">
            <a:pPr algn="l">
              <a:defRPr sz="1350" b="0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Serviços e agendamento</a:t>
            </a:r>
          </a:p>
          <a:p xmlns:a="http://schemas.openxmlformats.org/drawingml/2006/main">
            <a:pPr algn="l">
              <a:defRPr sz="1350" b="0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Contato direto por WhatsApp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2248A-06A4-4C41-9AED-2A26F5A1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3905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315E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FCCFC-58F2-4E86-8F3C-D36B3F38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19400"/>
            <a:ext cx="1123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8DC0F-01EF-44AE-A93C-57DAE0C4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PARA O DONO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BE6ED-EA75-4E84-B7EE-65B46A6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Painel de gestão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0F241-255C-455A-8CC3-1ED5F926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052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Estoque e vendas</a:t>
            </a:r>
          </a:p>
          <a:p xmlns:a="http://schemas.openxmlformats.org/drawingml/2006/main">
            <a:pPr algn="l">
              <a:defRPr sz="1350" b="0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Orçamentos e serviços</a:t>
            </a:r>
          </a:p>
          <a:p xmlns:a="http://schemas.openxmlformats.org/drawingml/2006/main">
            <a:pPr algn="l">
              <a:defRPr sz="1350" b="0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Indicadores e configurações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A0207-32A1-4C57-B95B-F35DDDB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19450"/>
            <a:ext cx="238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3C930-5986-404C-ABDA-6BE24FFF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MODUS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BD472-C57D-4DE9-8C59-9F29B0B3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29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D211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D211B"/>
                </a:solidFill>
                <a:latin typeface="Arial"/>
                <a:ea typeface="Arial"/>
                <a:cs typeface="Arial"/>
              </a:rPr>
              <a:t>dados centralizados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5F4892-15DD-4B63-BCBE-D59E9233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528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EF51D-850C-464C-B5F7-8F38BC06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52850"/>
            <a:ext cx="3143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ECF684-828F-4B4F-A46F-C497F999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292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A mesma informação alimenta a divulgação e a rotina da empresa.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0ECB7-1107-4E80-B3D9-ED6B935D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FF015-7B57-4806-9C52-0329EB91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155611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99D87-BDFB-42FB-B398-3DAEB556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EXPERIÊNCIA DO CLIENTE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1D06F-7A25-4C77-83DC-E88A2D5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Do interesse ao contato, sem atrito.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D13EA-F2A0-43D7-92C0-121F41C2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 vitrine ajuda o cliente a encontrar, comparar e iniciar uma conversa com contexto.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5141E-F05A-4793-8A38-FF35D367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E6F2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4B8F2-D482-4B3B-85BD-324A3375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BCA5B-EBD6-4F5D-85EC-DB2966E2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Descobre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593ED-8AE3-4D2D-AF0C-D8CAA92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Acessa a vitrine pelo celular ou computador.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826AF-B8D2-4749-9C98-E1D92221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86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435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208F7-84BD-49DD-BE98-2C6B953C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E6F2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46B6C-6BD3-4FA3-8B01-053A74A8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F3907-8D6E-465F-8BE5-67E1BA6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Explora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DA8DD-95C0-4A7E-8443-6E86B19F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10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Navega por produtos, categorias e serviços.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B23F4-F970-486C-B932-2D3F773B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486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435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D1C47-6C30-4CB0-A785-67DC8BE9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9525">
            <a:solidFill>
              <a:srgbClr val="E6F2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356FD-57A8-47CD-B8A2-2C2A905F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CB4A7-6E31-4EA8-BFEB-0C630B6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Escolhe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B4C98-4FE0-40DF-9A0E-7616F8FD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Abre os detalhes e entende a oferta.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C69A3-1C66-451D-86E4-138A9078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861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435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14C63-332E-4E4F-B559-682ECB19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9525">
            <a:solidFill>
              <a:srgbClr val="0D211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6663F-2FAB-4197-B5A3-6430E4DA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9E2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9E2A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F2D52-1BD5-4D69-AA30-B15D7E53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CC09B-1C90-4892-BDB8-D9FBED53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Envia o interesse para a empresa pelo WhatsApp.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1ACD1B-D414-43B0-8C5B-4CD5D173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9F7D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8EEDCF-5ABC-474F-B3F3-47F6D40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40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D211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D211B"/>
                </a:solidFill>
                <a:latin typeface="Arial"/>
                <a:ea typeface="Arial"/>
                <a:cs typeface="Arial"/>
              </a:rPr>
              <a:t>Escopo atual: vitrine digital com encaminhamento ao WhatsApp. O fechamento comercial continua com a equipe da loja.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91024-CF9D-41AD-B2E3-EA72C3B2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AEE07-7AA4-4F85-A457-B9A35AF1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51904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389F1F-9396-4D49-B897-435C1040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OPERAÇÃO DO DONO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0634A-D55E-4D84-90AD-458891C7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Os controles essenciais em um painel simples.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47BE5-679A-42EB-B015-0C8A772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Cada módulo resolve uma parte da rotina sem exigir um sistema pesado.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695E7-3ABC-4279-A53E-125B492C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88D0A-6960-4989-A4F9-5D418701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D1BC9-DE8E-498D-8010-7AD85B75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Visão rápida do que merece atenção.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A7F64-E841-46AC-8440-A9E84D95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9DB1D-C418-49D1-938A-F68A4241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Produtos e estoque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D78EC-DDA2-4FF2-A51A-3B53D776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Cadastro, organização e acompanhamento.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7FAEC-44A0-4E43-8658-911AACEC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A9FAF-3E3B-4632-838A-8FEE18FD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Vendas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DBD42-614D-41A3-B8B7-0BEEAB13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Registro centralizado das movimentações.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32D68-07D8-4B12-A5CA-3F221BD5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2EB37-A79A-4856-AEA0-CDA95A95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768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Financeiro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7C757-5E18-44A3-9360-94E80130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Entradas, saídas e leitura operacional.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48559-B5EB-4745-A041-0500A82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336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00B35-FCDF-4157-BEEB-E3F940C0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Ordens de serviço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8812E-6BCF-4356-A43E-53D21059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Acompanhamento dos serviços da assistência.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B864A-73A9-492E-98D6-03FDE8DB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0425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B24BFD-C47D-450A-9E50-3B7AC592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Orçamentos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C3CFD1-B3DF-4B35-A38B-3E85351B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67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Propostas organizadas para facilitar o retorno.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D0E40-6E35-4E4D-A584-6ADE8FE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F960B-2C2A-49A8-8F7B-FF3ED4A0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Agendamentos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9E70A1-306E-4717-8DE4-ED73AA74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33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Agenda dos atendimentos e compromissos.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589BD-C050-435A-AC8C-87FBB6F6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33975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CF8EFD-33CC-4B21-BAE9-DE1594A5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768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Promoções e configurações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5076B8-994C-464B-8B1D-EFDD59A6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006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Atualização da oferta e da identidade da loja.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E7AB24-5D59-4913-8121-A12C8D0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DE1D1B-C620-486B-9AA3-05B67B6A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097128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953EC-FA13-47CB-83E2-B1B036C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PLANOS ATUAIS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13949-3D4B-4258-9B52-5F87463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Comece com o tamanho certo para a operação.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AC851-6EDF-4517-9C94-B63B556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Mensalidades conforme a capacidade e os módulos liberados.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234315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476500"/>
                <a:gridCol w="1905000"/>
                <a:gridCol w="3581400"/>
              </a:tblGrid>
              <a:tr h="67865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9F7DF"/>
                          </a:solidFill>
                          <a:latin typeface="Arial"/>
                          <a:ea typeface="Arial"/>
                          <a:cs typeface="Arial"/>
                        </a:rPr>
                        <a:t>PLANO</a:t>
                      </a:r>
                    </a:p>
                  </a:txBody>
                  <a:tcPr marL="152400" marR="152400" marT="114300" marB="114300" anchor="ctr">
                    <a:solidFill>
                      <a:srgbClr val="0D21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9F7DF"/>
                          </a:solidFill>
                          <a:latin typeface="Arial"/>
                          <a:ea typeface="Arial"/>
                          <a:cs typeface="Arial"/>
                        </a:rPr>
                        <a:t>MENSALIDADE</a:t>
                      </a:r>
                    </a:p>
                  </a:txBody>
                  <a:tcPr marL="152400" marR="152400" marT="114300" marB="114300" anchor="ctr">
                    <a:solidFill>
                      <a:srgbClr val="0D21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9F7DF"/>
                          </a:solidFill>
                          <a:latin typeface="Arial"/>
                          <a:ea typeface="Arial"/>
                          <a:cs typeface="Arial"/>
                        </a:rPr>
                        <a:t>PRODUTOS</a:t>
                      </a:r>
                    </a:p>
                  </a:txBody>
                  <a:tcPr marL="152400" marR="152400" marT="114300" marB="114300" anchor="ctr">
                    <a:solidFill>
                      <a:srgbClr val="0D21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9F7DF"/>
                          </a:solidFill>
                          <a:latin typeface="Arial"/>
                          <a:ea typeface="Arial"/>
                          <a:cs typeface="Arial"/>
                        </a:rPr>
                        <a:t>INCLUSO</a:t>
                      </a:r>
                    </a:p>
                  </a:txBody>
                  <a:tcPr marL="152400" marR="152400" marT="114300" marB="114300" anchor="ctr">
                    <a:solidFill>
                      <a:srgbClr val="0D211B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Vitrine</a:t>
                      </a:r>
                    </a:p>
                  </a:txBody>
                  <a:tcPr marL="152400" marR="152400" marT="114300" marB="114300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D211B"/>
                          </a:solidFill>
                          <a:latin typeface="Arial"/>
                          <a:ea typeface="Arial"/>
                          <a:cs typeface="Arial"/>
                        </a:rPr>
                        <a:t>R$ 99,90</a:t>
                      </a:r>
                    </a:p>
                  </a:txBody>
                  <a:tcPr marL="152400" marR="152400" marT="114300" marB="114300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até 30</a:t>
                      </a:r>
                    </a:p>
                  </a:txBody>
                  <a:tcPr marL="152400" marR="152400" marT="114300" marB="114300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Vitrine, estoque, promoções e configurações</a:t>
                      </a:r>
                    </a:p>
                  </a:txBody>
                  <a:tcPr marL="152400" marR="152400" marT="114300" marB="114300" anchor="ctr">
                    <a:solidFill>
                      <a:srgbClr val="F4FAF6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Loja</a:t>
                      </a:r>
                    </a:p>
                  </a:txBody>
                  <a:tcPr marL="152400" marR="152400" marT="114300" marB="114300" anchor="ctr">
                    <a:solidFill>
                      <a:srgbClr val="C9F7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D211B"/>
                          </a:solidFill>
                          <a:latin typeface="Arial"/>
                          <a:ea typeface="Arial"/>
                          <a:cs typeface="Arial"/>
                        </a:rPr>
                        <a:t>R$ 179,90</a:t>
                      </a:r>
                    </a:p>
                  </a:txBody>
                  <a:tcPr marL="152400" marR="152400" marT="114300" marB="114300" anchor="ctr">
                    <a:solidFill>
                      <a:srgbClr val="C9F7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até 150</a:t>
                      </a:r>
                    </a:p>
                  </a:txBody>
                  <a:tcPr marL="152400" marR="152400" marT="114300" marB="114300" anchor="ctr">
                    <a:solidFill>
                      <a:srgbClr val="C9F7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Todos os módulos operacionais</a:t>
                      </a:r>
                    </a:p>
                  </a:txBody>
                  <a:tcPr marL="152400" marR="152400" marT="114300" marB="114300" anchor="ctr">
                    <a:solidFill>
                      <a:srgbClr val="C9F7D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Master</a:t>
                      </a:r>
                    </a:p>
                  </a:txBody>
                  <a:tcPr marL="152400" marR="152400" marT="114300" marB="114300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D211B"/>
                          </a:solidFill>
                          <a:latin typeface="Arial"/>
                          <a:ea typeface="Arial"/>
                          <a:cs typeface="Arial"/>
                        </a:rPr>
                        <a:t>R$ 299,00</a:t>
                      </a:r>
                    </a:p>
                  </a:txBody>
                  <a:tcPr marL="152400" marR="152400" marT="114300" marB="114300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até 300</a:t>
                      </a:r>
                    </a:p>
                  </a:txBody>
                  <a:tcPr marL="152400" marR="152400" marT="114300" marB="114300" anchor="ctr">
                    <a:solidFill>
                      <a:srgbClr val="F4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B16"/>
                          </a:solidFill>
                          <a:latin typeface="Arial"/>
                          <a:ea typeface="Arial"/>
                          <a:cs typeface="Arial"/>
                        </a:rPr>
                        <a:t>Todos os módulos operacionais</a:t>
                      </a:r>
                    </a:p>
                  </a:txBody>
                  <a:tcPr marL="152400" marR="152400" marT="114300" marB="114300" anchor="ctr">
                    <a:solidFill>
                      <a:srgbClr val="F4FA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25BAF-6B1C-4C9D-A30A-52C1BEA8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75E51-64FF-4BAE-9F8D-2584B66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Implantação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87B83-7038-49A7-B5C4-F76EDDC3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Valor definido após entender o escopo, a carga inicial e as necessidades da empresa.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A8B07-85C7-4127-95E4-1247677A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ECCDF-D7E1-4432-B66A-1314F0D5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60798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F31E8-CCFE-42D4-BA70-AEF5752A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315E4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15E4D"/>
                </a:solidFill>
                <a:latin typeface="Arial"/>
                <a:ea typeface="Arial"/>
                <a:cs typeface="Arial"/>
              </a:rPr>
              <a:t>IMPLANTAÇÃO GUIADA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99479-BBD8-426D-97E3-07C7BF0A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Da configuração ao uso real, em quatro etapas.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18666-D287-459A-9C4F-A042C6AA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 implantação organiza o essencial antes de ampliar o uso.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5CC62-CC1E-429A-8D5D-69B4E15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33725"/>
            <a:ext cx="969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86793-7027-4E3D-8470-D44A9F20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88BD8-1C36-4B51-9D3A-E7E00F13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38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3848D-DC33-43A4-96B7-7474B4C9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Diagnóstico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73D95-4D3A-4F52-9692-D1A1D0C0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Entendemos a rotina, os serviços e o que precisa entrar primeiro.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0113E-8A18-40A0-BA4D-AD523007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E6F51-2042-482F-8892-F912E1B5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38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FE50C-C6E6-4D69-88CA-28FA0E77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38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Configuração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51DAD-0E8B-4EE2-AA38-8BCCD3C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14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Aplicamos a identidade, o catálogo e as regras iniciais.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60EAA-50D5-457F-B1C0-F4C5D5C7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2CFF8-990A-41E1-8D09-61A4A86C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38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7121B-E57C-4608-9C99-61B87CB9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Treinamento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B6B6F-90CE-497A-8769-0E8EF6F7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O responsável aprende o fluxo necessário para operar.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0426B-0F5E-448F-9D7E-DD27FADE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96221-C4D6-4BB9-A45D-4678F19D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38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D1E3A-9EB9-476A-8D78-34F32F0F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FD6AD-5B8C-42CE-81CD-BC526785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148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Ajustamos a experiência com base no uso da empresa.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827C8-8E97-403F-8079-E796026F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1217A-6EEB-417F-95A8-32865337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Objetivo: colocar uma primeira operação completa em uso e aprender antes de escalar.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A0E3D-5FF0-4F5E-BBCE-805790B2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6706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670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76EB86-70A1-4408-90BD-315BF181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37353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06D93-B6BA-4918-8882-50BB5AFA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93DF3-FD3E-4FFC-8E2A-BFC88B0C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4305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1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E423A-69C0-465C-8010-125B329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219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15E4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191CC-E8A1-4E38-9E5C-911752B5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990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PRÓXIMO PASSO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1EF4C-74D2-4F23-84F2-3DF5AC2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Vamos colocar seu negócio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 modo de avançar?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240A3-7C01-4E10-9327-08F69720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Comece com o fluxo essencial, valide com a equipe e evolua com base no uso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BDD29-ADB2-426A-A3EA-FF03959D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6959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79E2A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5C0D2-61EA-4168-9F3A-30F61C2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339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B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1B16"/>
                </a:solidFill>
                <a:latin typeface="Arial"/>
                <a:ea typeface="Arial"/>
                <a:cs typeface="Arial"/>
              </a:rPr>
              <a:t>Conhecer a MODUS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63DD0-7F58-4963-AE83-B6E741AA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625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211B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D211B"/>
                </a:solidFill>
                <a:latin typeface="Arial"/>
                <a:ea typeface="Arial"/>
                <a:cs typeface="Arial"/>
              </a:rPr>
              <a:t>plataforma-whitelabel.vercel.app/captacao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e4da82e624125">
            <a:extLst>
              <a:ext uri="{96DAC541-7B7A-43D3-8B79-37D633B846F1}">
                <asvg:svgBlip xmlns:asvg="http://schemas.microsoft.com/office/drawing/2016/SVG/main" r:embed="R4eea3e4993494b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05850" y="1123950"/>
            <a:ext cx="2667000" cy="1047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2C379-0DD5-4EFD-867D-BD792BD2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43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79E2A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79E2AD"/>
                </a:solidFill>
                <a:latin typeface="Arial"/>
                <a:ea typeface="Arial"/>
                <a:cs typeface="Arial"/>
              </a:rPr>
              <a:t>Contato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A5099-EBB4-4262-9DF1-C3D3F89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+55 19 93300-5099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9FDAC-D5AE-48F3-9A34-0B2F73A0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F7D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9F7DF"/>
                </a:solidFill>
                <a:latin typeface="Arial"/>
                <a:ea typeface="Arial"/>
                <a:cs typeface="Arial"/>
              </a:rPr>
              <a:t>@usemodus.ai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F6BE2-1124-487F-87D3-9F051A78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38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6B99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6B99F"/>
                </a:solidFill>
                <a:latin typeface="Arial"/>
                <a:ea typeface="Arial"/>
                <a:cs typeface="Arial"/>
              </a:rPr>
              <a:t>MODUS · 2026</a:t>
            </a:r>
          </a:p>
        </p:txBody>
      </p:sp>
    </p:spTree>
    <p:extLst>
      <p:ext uri="{BB962C8B-B14F-4D97-AF65-F5344CB8AC3E}">
        <p14:creationId xmlns:p14="http://schemas.microsoft.com/office/powerpoint/2010/main" val="899285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2026-09-06T18:51:02.7370000Z</dcterms:created>
  <dcterms:modified xsi:type="dcterms:W3CDTF">2026-09-06T18:51:02.7370000Z</dcterms:modified>
</coreProperties>
</file>